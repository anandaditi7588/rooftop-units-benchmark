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area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44559F">
                <a:alpha val="55000"/>
              </a:srgbClr>
            </a:solidFill>
            <a:effectLst/>
          </c:spPr>
          <c:invertIfNegative val="0"/>
          <c:dLbls>
            <c:numFmt formatCode="&quot;$&quot;#,##0&quot;M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E276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(AOP)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0.5</c:v>
                </c:pt>
                <c:pt idx="1">
                  <c:v>14.4</c:v>
                </c:pt>
                <c:pt idx="2">
                  <c:v>26.5</c:v>
                </c:pt>
                <c:pt idx="3">
                  <c:v>30.8</c:v>
                </c:pt>
                <c:pt idx="4">
                  <c:v>115</c:v>
                </c:pt>
                <c:pt idx="5">
                  <c:v>162.8</c:v>
                </c:pt>
                <c:pt idx="6">
                  <c:v>130.2</c:v>
                </c:pt>
                <c:pt idx="7">
                  <c:v>153.3</c:v>
                </c:pt>
              </c:numCache>
            </c:numRef>
          </c:val>
        </c:ser>
        <c:dLbls>
          <c:numFmt formatCode="&quot;$&quot;#,##0&quot;M&quot;" sourceLinked="0"/>
          <c:txPr>
            <a:bodyPr/>
            <a:lstStyle/>
            <a:p>
              <a:pPr>
                <a:defRPr b="0" i="0" strike="noStrike" sz="950" u="none">
                  <a:solidFill>
                    <a:srgbClr val="1E276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2094734554"/>
        <c:axId val="2094734552"/>
        <c:axId val="2094734556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ASP ($K)</c:v>
                </c:pt>
              </c:strCache>
            </c:strRef>
          </c:tx>
          <c:spPr>
            <a:solidFill>
              <a:srgbClr val="E0A33E"/>
            </a:solidFill>
            <a:ln w="38100" cap="flat">
              <a:solidFill>
                <a:srgbClr val="E0A33E"/>
              </a:solidFill>
              <a:prstDash val="solid"/>
              <a:round/>
            </a:ln>
            <a:effectLst/>
          </c:spPr>
          <c:invertIfNegative val="0"/>
          <c:dLbls>
            <c:numFmt formatCode="&quot;$&quot;#,##0.0&quot;K&quot;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9A6B14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0A33E"/>
              </a:solidFill>
              <a:ln w="9525" cap="flat">
                <a:solidFill>
                  <a:srgbClr val="E0A3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2019</c:v>
                  </c:pt>
                  <c:pt idx="1">
                    <c:v>2020</c:v>
                  </c:pt>
                  <c:pt idx="2">
                    <c:v>2021</c:v>
                  </c:pt>
                  <c:pt idx="3">
                    <c:v>2022</c:v>
                  </c:pt>
                  <c:pt idx="4">
                    <c:v>2023</c:v>
                  </c:pt>
                  <c:pt idx="5">
                    <c:v>2024</c:v>
                  </c:pt>
                  <c:pt idx="6">
                    <c:v>2025</c:v>
                  </c:pt>
                  <c:pt idx="7">
                    <c:v>2026
(AOP)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14.4</c:v>
                </c:pt>
                <c:pt idx="1">
                  <c:v>12.3</c:v>
                </c:pt>
                <c:pt idx="2">
                  <c:v>12.1</c:v>
                </c:pt>
                <c:pt idx="3">
                  <c:v>14</c:v>
                </c:pt>
                <c:pt idx="4">
                  <c:v>17.8</c:v>
                </c:pt>
                <c:pt idx="5">
                  <c:v>19.4</c:v>
                </c:pt>
                <c:pt idx="6">
                  <c:v>20.8</c:v>
                </c:pt>
                <c:pt idx="7">
                  <c:v>22.2</c:v>
                </c:pt>
              </c:numCache>
            </c:numRef>
          </c:val>
          <c:smooth val="0"/>
        </c:ser>
        <c:dLbls>
          <c:numFmt formatCode="&quot;$&quot;#,##0.0&quot;K&quot;" sourceLinked="0"/>
          <c:txPr>
            <a:bodyPr/>
            <a:lstStyle/>
            <a:p>
              <a:pPr>
                <a:defRPr b="0" i="0" strike="noStrike" sz="950" u="none">
                  <a:solidFill>
                    <a:srgbClr val="9A6B14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327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12700" cap="flat">
              <a:solidFill>
                <a:srgbClr val="E5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Alternative view of the same sales data, framed around the pricing/mix story. Left: revenue trajectory as an area chart ($M). Right: average selling price per unit ($K), rising from ~$12K to ~$22K. KPI band shows FY2020–FY2026 CAGRs: revenue +48%, volume +35%, and average selling price +80%. Takeaway: revenue is growing faster than volume because the mix is shifting to higher-value units.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Growth Story: Revenue, Volume &amp; Pricing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75488" y="859536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Year FY2019 – FY2026 (AOP)   •   why revenue is outrunning volume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trajectory  ($M)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355080" y="1335024"/>
            <a:ext cx="5349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A6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  ($K per unit)</a:t>
            </a:r>
            <a:endParaRPr lang="en-US" sz="15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691640"/>
          <a:ext cx="5715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6263640" y="1691640"/>
          <a:ext cx="55321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4956048"/>
            <a:ext cx="1129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grew ~6× while price per unit rose ~80% — </a:t>
            </a:r>
            <a:pPr algn="l"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shift toward higher-value units is compounding revenue growth.</a:t>
            </a:r>
            <a:endParaRPr lang="en-US" sz="1350" dirty="0"/>
          </a:p>
        </p:txBody>
      </p:sp>
      <p:sp>
        <p:nvSpPr>
          <p:cNvPr id="9" name="Shape 5"/>
          <p:cNvSpPr/>
          <p:nvPr/>
        </p:nvSpPr>
        <p:spPr>
          <a:xfrm>
            <a:off x="457200" y="5394960"/>
            <a:ext cx="3544824" cy="1078992"/>
          </a:xfrm>
          <a:prstGeom prst="roundRect">
            <a:avLst>
              <a:gd name="adj" fmla="val 847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5B8">
                <a:alpha val="3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731520" y="55138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+48%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2606040" y="5577840"/>
            <a:ext cx="1213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606040" y="5971032"/>
            <a:ext cx="1213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 → FY2026 (AOP)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322064" y="5394960"/>
            <a:ext cx="3544824" cy="1078992"/>
          </a:xfrm>
          <a:prstGeom prst="roundRect">
            <a:avLst>
              <a:gd name="adj" fmla="val 847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5B8">
                <a:alpha val="32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4596384" y="55138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445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+35%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6470904" y="5577840"/>
            <a:ext cx="1213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CAGR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70904" y="5971032"/>
            <a:ext cx="1213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 → FY2026 (AOP)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8186928" y="5394960"/>
            <a:ext cx="3544824" cy="1078992"/>
          </a:xfrm>
          <a:prstGeom prst="roundRect">
            <a:avLst>
              <a:gd name="adj" fmla="val 8475"/>
            </a:avLst>
          </a:prstGeom>
          <a:solidFill>
            <a:srgbClr val="F3F6FC"/>
          </a:solidFill>
          <a:ln/>
          <a:effectLst>
            <a:outerShdw sx="100000" sy="100000" kx="0" ky="0" algn="bl" rotWithShape="0" blurRad="88900" dist="25400" dir="5400000">
              <a:srgbClr val="9AA5B8">
                <a:alpha val="32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8461248" y="5513832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E0A3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10335768" y="5577840"/>
            <a:ext cx="1213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selling price growth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0335768" y="5971032"/>
            <a:ext cx="12131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FY2020 → FY2026 (AOP)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7200" y="6547104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Sales Volumes (Units) and Revenue, Sheet1.  ASP = Revenue ÷ Units.  CAGR measured from FY2020 (first full year).  AOP = Annual Operating Plan.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2026-07-21T07:31:52Z</dcterms:created>
  <dcterms:modified xsi:type="dcterms:W3CDTF">2026-07-21T07:31:52Z</dcterms:modified>
</cp:coreProperties>
</file>