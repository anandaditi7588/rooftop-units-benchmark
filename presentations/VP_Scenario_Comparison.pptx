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F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4-Stage &amp; VFD Compressor Heat Pump Program — Scenario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658368"/>
            <a:ext cx="5806440" cy="777240"/>
          </a:xfrm>
          <a:prstGeom prst="rect">
            <a:avLst/>
          </a:prstGeom>
          <a:noFill/>
          <a:ln>
            <a:noFill/>
          </a:ln>
        </p:spPr>
        <p:txBody>
          <a:bodyPr wrap="square" anchor="t" lIns="73152" rIns="73152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E74B5"/>
                </a:solidFill>
                <a:latin typeface="Calibri"/>
              </a:rPr>
              <a:t>Scenario 1 — Sequential Execution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Calibri"/>
              </a:rPr>
              <a:t>Complete the full 4-Stage program (testing → EC release → Selection Navigator → agency → production release) before starting the VFD compressor project.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658368"/>
            <a:ext cx="5806440" cy="777240"/>
          </a:xfrm>
          <a:prstGeom prst="rect">
            <a:avLst/>
          </a:prstGeom>
          <a:noFill/>
          <a:ln>
            <a:noFill/>
          </a:ln>
        </p:spPr>
        <p:txBody>
          <a:bodyPr wrap="square" anchor="t" lIns="73152" rIns="73152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E7A6F"/>
                </a:solidFill>
                <a:latin typeface="Calibri"/>
              </a:rPr>
              <a:t>Scenario 2 — Parallel Execution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Calibri"/>
              </a:rPr>
              <a:t>As each 4-Stage unit completes testing, the same unit is immediately converted to a VFD compressor and tested (Units 1–4 flow 4-Stage test → VFD test).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28600" y="1481328"/>
          <a:ext cx="1173175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5032"/>
                <a:gridCol w="2011680"/>
                <a:gridCol w="2011680"/>
                <a:gridCol w="2011680"/>
                <a:gridCol w="2011680"/>
              </a:tblGrid>
              <a:tr h="301752">
                <a:tc rowSpan="2"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anchor="ctr" marL="54864" marR="54864" marT="9144" marB="9144">
                    <a:solidFill>
                      <a:srgbClr val="1F3B5C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Scenario 1 — Sequential</a:t>
                      </a:r>
                    </a:p>
                  </a:txBody>
                  <a:tcPr anchor="ctr" marL="54864" marR="54864" marT="9144" marB="9144">
                    <a:solidFill>
                      <a:srgbClr val="2E74B5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Scenario 2 — Parallel</a:t>
                      </a:r>
                    </a:p>
                  </a:txBody>
                  <a:tcPr anchor="ctr" marL="54864" marR="54864" marT="9144" marB="9144">
                    <a:solidFill>
                      <a:srgbClr val="1E7A6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4-Stage</a:t>
                      </a:r>
                    </a:p>
                  </a:txBody>
                  <a:tcPr anchor="ctr" marL="54864" marR="54864" marT="9144" marB="9144">
                    <a:solidFill>
                      <a:srgbClr val="2E74B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VFD Compressor</a:t>
                      </a:r>
                    </a:p>
                  </a:txBody>
                  <a:tcPr anchor="ctr" marL="54864" marR="54864" marT="9144" marB="9144">
                    <a:solidFill>
                      <a:srgbClr val="2E74B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4-Stage</a:t>
                      </a:r>
                    </a:p>
                  </a:txBody>
                  <a:tcPr anchor="ctr" marL="54864" marR="54864" marT="9144" marB="9144">
                    <a:solidFill>
                      <a:srgbClr val="1E7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VFD Compressor</a:t>
                      </a:r>
                    </a:p>
                  </a:txBody>
                  <a:tcPr anchor="ctr" marL="54864" marR="54864" marT="9144" marB="9144">
                    <a:solidFill>
                      <a:srgbClr val="1E7A6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Testing Complete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19-Jul-27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25-Apr-28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5-Nov-27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18-Apr-28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EC Release @25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26-Oct-27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5-Oct-28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25-Apr-28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  <a:latin typeface="Calibri"/>
                        </a:rPr>
                        <a:t>2-Oct-28 ⚠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Sel. Navigator Deliverable Release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25-Feb-28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1-Jan-29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20-Jul-28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8-Jan-29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Selection Navigator Release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7-Apr-28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12-Feb-29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31-Aug-28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19-Feb-29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MTL Build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28-Mar-28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31-Jan-29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21-Aug-28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7-Feb-29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MTL EC Release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25-Apr-28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28-Feb-29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18-Sep-28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7-Mar-29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Agency Approval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30-May-28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4-Apr-29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23-Oct-28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11-Apr-29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1st Production</a:t>
                      </a:r>
                    </a:p>
                  </a:txBody>
                  <a:tcPr anchor="ctr" marL="54864" marR="54864" marT="9144" marB="9144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28-Jul-28</a:t>
                      </a:r>
                    </a:p>
                  </a:txBody>
                  <a:tcPr anchor="ctr" marL="54864" marR="54864" marT="9144" marB="9144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9-May-29</a:t>
                      </a:r>
                    </a:p>
                  </a:txBody>
                  <a:tcPr anchor="ctr" marL="54864" marR="54864" marT="9144" marB="9144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27-Nov-28</a:t>
                      </a:r>
                    </a:p>
                  </a:txBody>
                  <a:tcPr anchor="ctr" marL="54864" marR="54864" marT="9144" marB="9144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16-May-29</a:t>
                      </a:r>
                    </a:p>
                  </a:txBody>
                  <a:tcPr anchor="ctr" marL="54864" marR="54864" marT="9144" marB="9144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28600" y="4526280"/>
            <a:ext cx="11731752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73152" rIns="73152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C00000"/>
                </a:solidFill>
                <a:latin typeface="Calibri"/>
              </a:rPr>
              <a:t>⚠ 2-Oct-28: EC release team conflict between 4-Stage MTL EC and VFD compressor EC release.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4828032"/>
            <a:ext cx="58064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</p:spPr>
        <p:txBody>
          <a:bodyPr wrap="square" anchor="t" lIns="73152" rIns="73152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4B5"/>
                </a:solidFill>
                <a:latin typeface="Calibri"/>
              </a:rPr>
              <a:t>Scenario 1 — Challenges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Calibri"/>
              </a:rPr>
              <a:t>• Refrigeration team must work on VFD compressor unit testing in parallel with Selection Navigator &amp; UL deliverables.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4828032"/>
            <a:ext cx="58064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1E7A6F"/>
            </a:solidFill>
          </a:ln>
        </p:spPr>
        <p:txBody>
          <a:bodyPr wrap="square" anchor="t" lIns="73152" rIns="73152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E7A6F"/>
                </a:solidFill>
                <a:latin typeface="Calibri"/>
              </a:rPr>
              <a:t>Scenario 2 — Challenges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Calibri"/>
              </a:rPr>
              <a:t>• Firmware for VFD compressor &amp; EXV must be ready by Nov 2026    • Ultra-high-efficiency component selection needed before Nov 2026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Calibri"/>
              </a:rPr>
              <a:t>• Refrigeration team can only work one project at a time    • EC conflict: 4-Stage MTL EC vs. VFD EC release    • Mechanical team loaded on both projects simultaneously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6199632"/>
            <a:ext cx="11731752" cy="502920"/>
          </a:xfrm>
          <a:prstGeom prst="rect">
            <a:avLst/>
          </a:prstGeom>
          <a:solidFill>
            <a:srgbClr val="1F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Key takeaway:  Sequential execution (Scenario 1) reaches 4-Stage 1st production ~4 months earlier (28-Jul-28 vs 27-Nov-28) and VFD 1st production ~1 week earlier (9-May-29 vs 16-May-29), with fewer resource and EC conflicts.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F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Program Timeline — Gantt View: Sequential vs Parallel Execution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545336" y="932688"/>
            <a:ext cx="10442448" cy="2176272"/>
          </a:xfrm>
          <a:prstGeom prst="rect">
            <a:avLst/>
          </a:prstGeom>
          <a:solidFill>
            <a:srgbClr val="F0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45336" y="3108960"/>
            <a:ext cx="10442448" cy="2148840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1887220" y="932688"/>
            <a:ext cx="0" cy="4325112"/>
          </a:xfrm>
          <a:prstGeom prst="line">
            <a:avLst/>
          </a:prstGeom>
          <a:ln w="9525">
            <a:solidFill>
              <a:srgbClr val="E3E7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521460" y="5303520"/>
            <a:ext cx="73152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672"/>
                </a:solidFill>
                <a:latin typeface="Calibri"/>
              </a:rPr>
              <a:t>Jul '27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44640" y="932688"/>
            <a:ext cx="0" cy="4325112"/>
          </a:xfrm>
          <a:prstGeom prst="line">
            <a:avLst/>
          </a:prstGeom>
          <a:ln w="9525">
            <a:solidFill>
              <a:srgbClr val="E3E7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778880" y="5303520"/>
            <a:ext cx="73152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672"/>
                </a:solidFill>
                <a:latin typeface="Calibri"/>
              </a:rPr>
              <a:t>Oct '27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02061" y="932688"/>
            <a:ext cx="0" cy="4325112"/>
          </a:xfrm>
          <a:prstGeom prst="line">
            <a:avLst/>
          </a:prstGeom>
          <a:ln w="9525">
            <a:solidFill>
              <a:srgbClr val="E3E7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036301" y="5303520"/>
            <a:ext cx="73152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672"/>
                </a:solidFill>
                <a:latin typeface="Calibri"/>
              </a:rPr>
              <a:t>Jan '28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45815" y="932688"/>
            <a:ext cx="0" cy="4325112"/>
          </a:xfrm>
          <a:prstGeom prst="line">
            <a:avLst/>
          </a:prstGeom>
          <a:ln w="9525">
            <a:solidFill>
              <a:srgbClr val="E3E7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280055" y="5303520"/>
            <a:ext cx="73152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672"/>
                </a:solidFill>
                <a:latin typeface="Calibri"/>
              </a:rPr>
              <a:t>Apr '28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89568" y="932688"/>
            <a:ext cx="0" cy="4325112"/>
          </a:xfrm>
          <a:prstGeom prst="line">
            <a:avLst/>
          </a:prstGeom>
          <a:ln w="9525">
            <a:solidFill>
              <a:srgbClr val="E3E7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23808" y="5303520"/>
            <a:ext cx="73152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672"/>
                </a:solidFill>
                <a:latin typeface="Calibri"/>
              </a:rPr>
              <a:t>Jul '28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146989" y="932688"/>
            <a:ext cx="0" cy="4325112"/>
          </a:xfrm>
          <a:prstGeom prst="line">
            <a:avLst/>
          </a:prstGeom>
          <a:ln w="9525">
            <a:solidFill>
              <a:srgbClr val="E3E7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81229" y="5303520"/>
            <a:ext cx="73152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672"/>
                </a:solidFill>
                <a:latin typeface="Calibri"/>
              </a:rPr>
              <a:t>Oct '28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04410" y="932688"/>
            <a:ext cx="0" cy="4325112"/>
          </a:xfrm>
          <a:prstGeom prst="line">
            <a:avLst/>
          </a:prstGeom>
          <a:ln w="9525">
            <a:solidFill>
              <a:srgbClr val="E3E7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038650" y="5303520"/>
            <a:ext cx="73152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672"/>
                </a:solidFill>
                <a:latin typeface="Calibri"/>
              </a:rPr>
              <a:t>Jan '29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634496" y="932688"/>
            <a:ext cx="0" cy="4325112"/>
          </a:xfrm>
          <a:prstGeom prst="line">
            <a:avLst/>
          </a:prstGeom>
          <a:ln w="9525">
            <a:solidFill>
              <a:srgbClr val="E3E7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68736" y="5303520"/>
            <a:ext cx="73152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672"/>
                </a:solidFill>
                <a:latin typeface="Calibri"/>
              </a:rPr>
              <a:t>Apr '29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878249" y="932688"/>
            <a:ext cx="0" cy="4325112"/>
          </a:xfrm>
          <a:prstGeom prst="line">
            <a:avLst/>
          </a:prstGeom>
          <a:ln w="9525">
            <a:solidFill>
              <a:srgbClr val="E3E7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1512489" y="5303520"/>
            <a:ext cx="73152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672"/>
                </a:solidFill>
                <a:latin typeface="Calibri"/>
              </a:rPr>
              <a:t>Jul '29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545336" y="5257800"/>
            <a:ext cx="10442448" cy="0"/>
          </a:xfrm>
          <a:prstGeom prst="line">
            <a:avLst/>
          </a:prstGeom>
          <a:ln w="12700">
            <a:solidFill>
              <a:srgbClr val="E3E7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1280160"/>
            <a:ext cx="1024128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850" b="0">
                <a:solidFill>
                  <a:srgbClr val="262626"/>
                </a:solidFill>
                <a:latin typeface="Calibri"/>
              </a:rPr>
              <a:t>4-Stage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286000"/>
            <a:ext cx="1024128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850" b="0">
                <a:solidFill>
                  <a:srgbClr val="262626"/>
                </a:solidFill>
                <a:latin typeface="Calibri"/>
              </a:rPr>
              <a:t>VFD</a:t>
            </a:r>
          </a:p>
          <a:p>
            <a:pPr algn="r"/>
            <a:r>
              <a:rPr sz="850" b="0">
                <a:solidFill>
                  <a:srgbClr val="262626"/>
                </a:solidFill>
                <a:latin typeface="Calibri"/>
              </a:rPr>
              <a:t>Compressor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383280"/>
            <a:ext cx="1024128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850" b="0">
                <a:solidFill>
                  <a:srgbClr val="262626"/>
                </a:solidFill>
                <a:latin typeface="Calibri"/>
              </a:rPr>
              <a:t>4-Stage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398264"/>
            <a:ext cx="1024128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850" b="0">
                <a:solidFill>
                  <a:srgbClr val="262626"/>
                </a:solidFill>
                <a:latin typeface="Calibri"/>
              </a:rPr>
              <a:t>VFD</a:t>
            </a:r>
          </a:p>
          <a:p>
            <a:pPr algn="r"/>
            <a:r>
              <a:rPr sz="850" b="0">
                <a:solidFill>
                  <a:srgbClr val="262626"/>
                </a:solidFill>
                <a:latin typeface="Calibri"/>
              </a:rPr>
              <a:t>Compressor</a:t>
            </a:r>
          </a:p>
        </p:txBody>
      </p:sp>
      <p:sp>
        <p:nvSpPr>
          <p:cNvPr id="28" name="TextBox 27"/>
          <p:cNvSpPr txBox="1"/>
          <p:nvPr/>
        </p:nvSpPr>
        <p:spPr>
          <a:xfrm rot="16200000">
            <a:off x="-429768" y="1792224"/>
            <a:ext cx="1463040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850" b="1">
                <a:solidFill>
                  <a:srgbClr val="2E74B5"/>
                </a:solidFill>
                <a:latin typeface="Calibri"/>
              </a:rPr>
              <a:t>SCENARIO 1</a:t>
            </a:r>
          </a:p>
          <a:p>
            <a:pPr algn="ctr"/>
            <a:r>
              <a:rPr sz="850" b="1">
                <a:solidFill>
                  <a:srgbClr val="2E74B5"/>
                </a:solidFill>
                <a:latin typeface="Calibri"/>
              </a:rPr>
              <a:t>SEQUENTIAL</a:t>
            </a:r>
          </a:p>
        </p:txBody>
      </p:sp>
      <p:sp>
        <p:nvSpPr>
          <p:cNvPr id="29" name="TextBox 28"/>
          <p:cNvSpPr txBox="1"/>
          <p:nvPr/>
        </p:nvSpPr>
        <p:spPr>
          <a:xfrm rot="16200000">
            <a:off x="-429768" y="3950208"/>
            <a:ext cx="1463040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850" b="1">
                <a:solidFill>
                  <a:srgbClr val="0F8A6C"/>
                </a:solidFill>
                <a:latin typeface="Calibri"/>
              </a:rPr>
              <a:t>SCENARIO 2</a:t>
            </a:r>
          </a:p>
          <a:p>
            <a:pPr algn="ctr"/>
            <a:r>
              <a:rPr sz="850" b="1">
                <a:solidFill>
                  <a:srgbClr val="0F8A6C"/>
                </a:solidFill>
                <a:latin typeface="Calibri"/>
              </a:rPr>
              <a:t>PARALLEL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00200" y="758952"/>
            <a:ext cx="292608" cy="6858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84248" y="694944"/>
            <a:ext cx="1691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Calibri"/>
              </a:rPr>
              <a:t>Scenario 1 — Sequential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03320" y="758952"/>
            <a:ext cx="292608" cy="68580"/>
          </a:xfrm>
          <a:prstGeom prst="rect">
            <a:avLst/>
          </a:prstGeom>
          <a:solidFill>
            <a:srgbClr val="0F8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87368" y="694944"/>
            <a:ext cx="1600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Calibri"/>
              </a:rPr>
              <a:t>Scenario 2 — Parallel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5728716" y="745236"/>
            <a:ext cx="91440" cy="91440"/>
          </a:xfrm>
          <a:prstGeom prst="rect">
            <a:avLst/>
          </a:prstGeom>
          <a:solidFill>
            <a:srgbClr val="26262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99048" y="694944"/>
            <a:ext cx="2057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Calibri"/>
              </a:rPr>
              <a:t>1st Production (larger marker)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8106156" y="745236"/>
            <a:ext cx="91440" cy="91440"/>
          </a:xfrm>
          <a:prstGeom prst="rect">
            <a:avLst/>
          </a:prstGeom>
          <a:solidFill>
            <a:srgbClr val="C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76488" y="694944"/>
            <a:ext cx="3611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Calibri"/>
              </a:rPr>
              <a:t>* EC release team conflict (4-Stage MTL EC vs VFD EC)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96661" y="1520189"/>
            <a:ext cx="5198509" cy="6858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V="1">
            <a:off x="2133237" y="1188719"/>
            <a:ext cx="0" cy="301753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630317" y="896111"/>
            <a:ext cx="1005840" cy="292608"/>
          </a:xfrm>
          <a:prstGeom prst="rect">
            <a:avLst/>
          </a:prstGeom>
          <a:noFill/>
        </p:spPr>
        <p:txBody>
          <a:bodyPr wrap="none" anchor="b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Testing</a:t>
            </a:r>
          </a:p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19-Jul-27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86331" y="1618488"/>
            <a:ext cx="0" cy="301752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983411" y="1920240"/>
            <a:ext cx="100584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EC @25</a:t>
            </a:r>
          </a:p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26-Oct-27</a:t>
            </a:r>
          </a:p>
        </p:txBody>
      </p:sp>
      <p:cxnSp>
        <p:nvCxnSpPr>
          <p:cNvPr id="43" name="Connector 42"/>
          <p:cNvCxnSpPr/>
          <p:nvPr/>
        </p:nvCxnSpPr>
        <p:spPr>
          <a:xfrm flipV="1">
            <a:off x="5153780" y="1362456"/>
            <a:ext cx="0" cy="128016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4650860" y="1069848"/>
            <a:ext cx="1005840" cy="292608"/>
          </a:xfrm>
          <a:prstGeom prst="rect">
            <a:avLst/>
          </a:prstGeom>
          <a:noFill/>
        </p:spPr>
        <p:txBody>
          <a:bodyPr wrap="none" anchor="b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SN Deliv.</a:t>
            </a:r>
          </a:p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25-Feb-28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591144" y="1618488"/>
            <a:ext cx="0" cy="128016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088224" y="1746504"/>
            <a:ext cx="100584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MTL Build</a:t>
            </a:r>
          </a:p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28-Mar-28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5727820" y="1188719"/>
            <a:ext cx="0" cy="301753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224900" y="896111"/>
            <a:ext cx="1005840" cy="292608"/>
          </a:xfrm>
          <a:prstGeom prst="rect">
            <a:avLst/>
          </a:prstGeom>
          <a:noFill/>
        </p:spPr>
        <p:txBody>
          <a:bodyPr wrap="none" anchor="b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SN Release</a:t>
            </a:r>
          </a:p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07-Apr-28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973838" y="1618488"/>
            <a:ext cx="0" cy="301752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470918" y="1920240"/>
            <a:ext cx="100584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MTL EC</a:t>
            </a:r>
          </a:p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25-Apr-28</a:t>
            </a:r>
          </a:p>
        </p:txBody>
      </p:sp>
      <p:cxnSp>
        <p:nvCxnSpPr>
          <p:cNvPr id="51" name="Connector 50"/>
          <p:cNvCxnSpPr/>
          <p:nvPr/>
        </p:nvCxnSpPr>
        <p:spPr>
          <a:xfrm flipV="1">
            <a:off x="6452204" y="1362456"/>
            <a:ext cx="0" cy="128016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949284" y="1069848"/>
            <a:ext cx="1005840" cy="292608"/>
          </a:xfrm>
          <a:prstGeom prst="rect">
            <a:avLst/>
          </a:prstGeom>
          <a:noFill/>
        </p:spPr>
        <p:txBody>
          <a:bodyPr wrap="none" anchor="b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Agency</a:t>
            </a:r>
          </a:p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30-May-28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7258594" y="1618488"/>
            <a:ext cx="0" cy="128016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755674" y="1746504"/>
            <a:ext cx="100584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262626"/>
                </a:solidFill>
                <a:latin typeface="Calibri"/>
              </a:rPr>
              <a:t>1st Prod</a:t>
            </a:r>
          </a:p>
          <a:p>
            <a:pPr algn="ctr"/>
            <a:r>
              <a:rPr sz="750" b="1">
                <a:solidFill>
                  <a:srgbClr val="262626"/>
                </a:solidFill>
                <a:latin typeface="Calibri"/>
              </a:rPr>
              <a:t>28-Jul-28</a:t>
            </a:r>
          </a:p>
        </p:txBody>
      </p:sp>
      <p:sp>
        <p:nvSpPr>
          <p:cNvPr id="55" name="Rectangle 54"/>
          <p:cNvSpPr/>
          <p:nvPr/>
        </p:nvSpPr>
        <p:spPr>
          <a:xfrm rot="2700000">
            <a:off x="2094436" y="1515679"/>
            <a:ext cx="77601" cy="77601"/>
          </a:xfrm>
          <a:prstGeom prst="rect">
            <a:avLst/>
          </a:prstGeom>
          <a:solidFill>
            <a:srgbClr val="2E74B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 rot="2700000">
            <a:off x="3447530" y="1515679"/>
            <a:ext cx="77601" cy="77601"/>
          </a:xfrm>
          <a:prstGeom prst="rect">
            <a:avLst/>
          </a:prstGeom>
          <a:solidFill>
            <a:srgbClr val="2E74B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 rot="2700000">
            <a:off x="5114980" y="1515679"/>
            <a:ext cx="77601" cy="77601"/>
          </a:xfrm>
          <a:prstGeom prst="rect">
            <a:avLst/>
          </a:prstGeom>
          <a:solidFill>
            <a:srgbClr val="2E74B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 rot="2700000">
            <a:off x="5552344" y="1515679"/>
            <a:ext cx="77601" cy="77601"/>
          </a:xfrm>
          <a:prstGeom prst="rect">
            <a:avLst/>
          </a:prstGeom>
          <a:solidFill>
            <a:srgbClr val="2E74B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 rot="2700000">
            <a:off x="5689020" y="1515679"/>
            <a:ext cx="77601" cy="77601"/>
          </a:xfrm>
          <a:prstGeom prst="rect">
            <a:avLst/>
          </a:prstGeom>
          <a:solidFill>
            <a:srgbClr val="2E74B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 rot="2700000">
            <a:off x="5935037" y="1515679"/>
            <a:ext cx="77601" cy="77601"/>
          </a:xfrm>
          <a:prstGeom prst="rect">
            <a:avLst/>
          </a:prstGeom>
          <a:solidFill>
            <a:srgbClr val="2E74B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 rot="2700000">
            <a:off x="6413404" y="1515679"/>
            <a:ext cx="77601" cy="77601"/>
          </a:xfrm>
          <a:prstGeom prst="rect">
            <a:avLst/>
          </a:prstGeom>
          <a:solidFill>
            <a:srgbClr val="2E74B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 rot="2700000">
            <a:off x="7203626" y="1499512"/>
            <a:ext cx="109934" cy="109934"/>
          </a:xfrm>
          <a:prstGeom prst="rect">
            <a:avLst/>
          </a:prstGeom>
          <a:solidFill>
            <a:srgbClr val="2E74B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937262" y="2526029"/>
            <a:ext cx="5253179" cy="6858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5973838" y="2368296"/>
            <a:ext cx="0" cy="128016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470918" y="2075688"/>
            <a:ext cx="1005840" cy="292608"/>
          </a:xfrm>
          <a:prstGeom prst="rect">
            <a:avLst/>
          </a:prstGeom>
          <a:noFill/>
        </p:spPr>
        <p:txBody>
          <a:bodyPr wrap="none" anchor="b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Testing</a:t>
            </a:r>
          </a:p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25-Apr-28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8201660" y="2624327"/>
            <a:ext cx="0" cy="301752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98740" y="2926079"/>
            <a:ext cx="100584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EC @25</a:t>
            </a:r>
          </a:p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05-Oct-28</a:t>
            </a:r>
          </a:p>
        </p:txBody>
      </p:sp>
      <p:cxnSp>
        <p:nvCxnSpPr>
          <p:cNvPr id="68" name="Connector 67"/>
          <p:cNvCxnSpPr/>
          <p:nvPr/>
        </p:nvCxnSpPr>
        <p:spPr>
          <a:xfrm flipV="1">
            <a:off x="9404410" y="2194560"/>
            <a:ext cx="0" cy="301752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901490" y="1901952"/>
            <a:ext cx="1005840" cy="292608"/>
          </a:xfrm>
          <a:prstGeom prst="rect">
            <a:avLst/>
          </a:prstGeom>
          <a:noFill/>
        </p:spPr>
        <p:txBody>
          <a:bodyPr wrap="none" anchor="b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SN Deliv.</a:t>
            </a:r>
          </a:p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01-Jan-29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814439" y="2624327"/>
            <a:ext cx="0" cy="128017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311519" y="2752344"/>
            <a:ext cx="100584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MTL Build</a:t>
            </a:r>
          </a:p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31-Jan-29</a:t>
            </a:r>
          </a:p>
        </p:txBody>
      </p:sp>
      <p:cxnSp>
        <p:nvCxnSpPr>
          <p:cNvPr id="72" name="Connector 71"/>
          <p:cNvCxnSpPr/>
          <p:nvPr/>
        </p:nvCxnSpPr>
        <p:spPr>
          <a:xfrm flipV="1">
            <a:off x="9978450" y="2368296"/>
            <a:ext cx="0" cy="128016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9475530" y="2075688"/>
            <a:ext cx="1005840" cy="292608"/>
          </a:xfrm>
          <a:prstGeom prst="rect">
            <a:avLst/>
          </a:prstGeom>
          <a:noFill/>
        </p:spPr>
        <p:txBody>
          <a:bodyPr wrap="none" anchor="b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SN Release</a:t>
            </a:r>
          </a:p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12-Feb-29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10197132" y="2624327"/>
            <a:ext cx="0" cy="301752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9694212" y="2926079"/>
            <a:ext cx="100584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MTL EC</a:t>
            </a:r>
          </a:p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28-Feb-29</a:t>
            </a:r>
          </a:p>
        </p:txBody>
      </p:sp>
      <p:cxnSp>
        <p:nvCxnSpPr>
          <p:cNvPr id="76" name="Connector 75"/>
          <p:cNvCxnSpPr/>
          <p:nvPr/>
        </p:nvCxnSpPr>
        <p:spPr>
          <a:xfrm flipV="1">
            <a:off x="10675499" y="2194560"/>
            <a:ext cx="0" cy="301752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10172579" y="1901952"/>
            <a:ext cx="1005840" cy="292608"/>
          </a:xfrm>
          <a:prstGeom prst="rect">
            <a:avLst/>
          </a:prstGeom>
          <a:noFill/>
        </p:spPr>
        <p:txBody>
          <a:bodyPr wrap="none" anchor="b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Agency</a:t>
            </a:r>
          </a:p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04-Apr-29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1153865" y="2624327"/>
            <a:ext cx="0" cy="128017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10650945" y="2752344"/>
            <a:ext cx="100584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262626"/>
                </a:solidFill>
                <a:latin typeface="Calibri"/>
              </a:rPr>
              <a:t>1st Prod</a:t>
            </a:r>
          </a:p>
          <a:p>
            <a:pPr algn="ctr"/>
            <a:r>
              <a:rPr sz="750" b="1">
                <a:solidFill>
                  <a:srgbClr val="262626"/>
                </a:solidFill>
                <a:latin typeface="Calibri"/>
              </a:rPr>
              <a:t>09-May-29</a:t>
            </a:r>
          </a:p>
        </p:txBody>
      </p:sp>
      <p:sp>
        <p:nvSpPr>
          <p:cNvPr id="80" name="Rectangle 79"/>
          <p:cNvSpPr/>
          <p:nvPr/>
        </p:nvSpPr>
        <p:spPr>
          <a:xfrm rot="2700000">
            <a:off x="5935037" y="2521519"/>
            <a:ext cx="77601" cy="77601"/>
          </a:xfrm>
          <a:prstGeom prst="rect">
            <a:avLst/>
          </a:prstGeom>
          <a:solidFill>
            <a:srgbClr val="2E74B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 rot="2700000">
            <a:off x="8162859" y="2521519"/>
            <a:ext cx="77601" cy="77601"/>
          </a:xfrm>
          <a:prstGeom prst="rect">
            <a:avLst/>
          </a:prstGeom>
          <a:solidFill>
            <a:srgbClr val="2E74B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 rot="2700000">
            <a:off x="9365609" y="2521519"/>
            <a:ext cx="77601" cy="77601"/>
          </a:xfrm>
          <a:prstGeom prst="rect">
            <a:avLst/>
          </a:prstGeom>
          <a:solidFill>
            <a:srgbClr val="2E74B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 rot="2700000">
            <a:off x="9775638" y="2521519"/>
            <a:ext cx="77601" cy="77601"/>
          </a:xfrm>
          <a:prstGeom prst="rect">
            <a:avLst/>
          </a:prstGeom>
          <a:solidFill>
            <a:srgbClr val="2E74B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 rot="2700000">
            <a:off x="9939649" y="2521519"/>
            <a:ext cx="77601" cy="77601"/>
          </a:xfrm>
          <a:prstGeom prst="rect">
            <a:avLst/>
          </a:prstGeom>
          <a:solidFill>
            <a:srgbClr val="2E74B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 rot="2700000">
            <a:off x="10158331" y="2521519"/>
            <a:ext cx="77601" cy="77601"/>
          </a:xfrm>
          <a:prstGeom prst="rect">
            <a:avLst/>
          </a:prstGeom>
          <a:solidFill>
            <a:srgbClr val="2E74B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 rot="2700000">
            <a:off x="10636698" y="2521519"/>
            <a:ext cx="77601" cy="77601"/>
          </a:xfrm>
          <a:prstGeom prst="rect">
            <a:avLst/>
          </a:prstGeom>
          <a:solidFill>
            <a:srgbClr val="2E74B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 rot="2700000">
            <a:off x="11098898" y="2505352"/>
            <a:ext cx="109934" cy="109934"/>
          </a:xfrm>
          <a:prstGeom prst="rect">
            <a:avLst/>
          </a:prstGeom>
          <a:solidFill>
            <a:srgbClr val="2E74B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586431" y="3623310"/>
            <a:ext cx="5376188" cy="68580"/>
          </a:xfrm>
          <a:prstGeom prst="rect">
            <a:avLst/>
          </a:prstGeom>
          <a:solidFill>
            <a:srgbClr val="0F8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3623007" y="3291840"/>
            <a:ext cx="0" cy="301752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3120087" y="2999232"/>
            <a:ext cx="1005840" cy="292608"/>
          </a:xfrm>
          <a:prstGeom prst="rect">
            <a:avLst/>
          </a:prstGeom>
          <a:noFill/>
        </p:spPr>
        <p:txBody>
          <a:bodyPr wrap="none" anchor="b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Testing</a:t>
            </a:r>
          </a:p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05-Nov-27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5973838" y="3721608"/>
            <a:ext cx="0" cy="301752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5470918" y="4023360"/>
            <a:ext cx="100584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EC @25</a:t>
            </a:r>
          </a:p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25-Apr-28</a:t>
            </a:r>
          </a:p>
        </p:txBody>
      </p:sp>
      <p:cxnSp>
        <p:nvCxnSpPr>
          <p:cNvPr id="93" name="Connector 92"/>
          <p:cNvCxnSpPr/>
          <p:nvPr/>
        </p:nvCxnSpPr>
        <p:spPr>
          <a:xfrm flipV="1">
            <a:off x="7149253" y="3465576"/>
            <a:ext cx="0" cy="128016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6646333" y="3172968"/>
            <a:ext cx="1005840" cy="292608"/>
          </a:xfrm>
          <a:prstGeom prst="rect">
            <a:avLst/>
          </a:prstGeom>
          <a:noFill/>
        </p:spPr>
        <p:txBody>
          <a:bodyPr wrap="none" anchor="b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SN Deliv.</a:t>
            </a:r>
          </a:p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20-Jul-28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7586617" y="3721608"/>
            <a:ext cx="0" cy="128016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7083697" y="3849624"/>
            <a:ext cx="100584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MTL Build</a:t>
            </a:r>
          </a:p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21-Aug-28</a:t>
            </a:r>
          </a:p>
        </p:txBody>
      </p:sp>
      <p:cxnSp>
        <p:nvCxnSpPr>
          <p:cNvPr id="97" name="Connector 96"/>
          <p:cNvCxnSpPr/>
          <p:nvPr/>
        </p:nvCxnSpPr>
        <p:spPr>
          <a:xfrm flipV="1">
            <a:off x="7723293" y="3291840"/>
            <a:ext cx="0" cy="301752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7220373" y="2999232"/>
            <a:ext cx="1005840" cy="292608"/>
          </a:xfrm>
          <a:prstGeom prst="rect">
            <a:avLst/>
          </a:prstGeom>
          <a:noFill/>
        </p:spPr>
        <p:txBody>
          <a:bodyPr wrap="none" anchor="b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SN Release</a:t>
            </a:r>
          </a:p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31-Aug-28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7969310" y="3721608"/>
            <a:ext cx="0" cy="301752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7466390" y="4023360"/>
            <a:ext cx="100584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MTL EC</a:t>
            </a:r>
          </a:p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18-Sep-28</a:t>
            </a:r>
          </a:p>
        </p:txBody>
      </p:sp>
      <p:cxnSp>
        <p:nvCxnSpPr>
          <p:cNvPr id="101" name="Connector 100"/>
          <p:cNvCxnSpPr/>
          <p:nvPr/>
        </p:nvCxnSpPr>
        <p:spPr>
          <a:xfrm flipV="1">
            <a:off x="8447677" y="3465576"/>
            <a:ext cx="0" cy="128016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7944757" y="3172968"/>
            <a:ext cx="1005840" cy="292608"/>
          </a:xfrm>
          <a:prstGeom prst="rect">
            <a:avLst/>
          </a:prstGeom>
          <a:noFill/>
        </p:spPr>
        <p:txBody>
          <a:bodyPr wrap="none" anchor="b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Agency</a:t>
            </a:r>
          </a:p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23-Oct-28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8926043" y="3721608"/>
            <a:ext cx="0" cy="128016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8423123" y="3849624"/>
            <a:ext cx="100584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262626"/>
                </a:solidFill>
                <a:latin typeface="Calibri"/>
              </a:rPr>
              <a:t>1st Prod</a:t>
            </a:r>
          </a:p>
          <a:p>
            <a:pPr algn="ctr"/>
            <a:r>
              <a:rPr sz="750" b="1">
                <a:solidFill>
                  <a:srgbClr val="262626"/>
                </a:solidFill>
                <a:latin typeface="Calibri"/>
              </a:rPr>
              <a:t>27-Nov-28</a:t>
            </a:r>
          </a:p>
        </p:txBody>
      </p:sp>
      <p:sp>
        <p:nvSpPr>
          <p:cNvPr id="105" name="Rectangle 104"/>
          <p:cNvSpPr/>
          <p:nvPr/>
        </p:nvSpPr>
        <p:spPr>
          <a:xfrm rot="2700000">
            <a:off x="3584207" y="3618799"/>
            <a:ext cx="77601" cy="77601"/>
          </a:xfrm>
          <a:prstGeom prst="rect">
            <a:avLst/>
          </a:prstGeom>
          <a:solidFill>
            <a:srgbClr val="0F8A6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 rot="2700000">
            <a:off x="5935037" y="3618799"/>
            <a:ext cx="77601" cy="77601"/>
          </a:xfrm>
          <a:prstGeom prst="rect">
            <a:avLst/>
          </a:prstGeom>
          <a:solidFill>
            <a:srgbClr val="0F8A6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 rot="2700000">
            <a:off x="7110452" y="3618799"/>
            <a:ext cx="77601" cy="77601"/>
          </a:xfrm>
          <a:prstGeom prst="rect">
            <a:avLst/>
          </a:prstGeom>
          <a:solidFill>
            <a:srgbClr val="0F8A6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 rot="2700000">
            <a:off x="7547816" y="3618799"/>
            <a:ext cx="77601" cy="77601"/>
          </a:xfrm>
          <a:prstGeom prst="rect">
            <a:avLst/>
          </a:prstGeom>
          <a:solidFill>
            <a:srgbClr val="0F8A6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 rot="2700000">
            <a:off x="7684492" y="3618799"/>
            <a:ext cx="77601" cy="77601"/>
          </a:xfrm>
          <a:prstGeom prst="rect">
            <a:avLst/>
          </a:prstGeom>
          <a:solidFill>
            <a:srgbClr val="0F8A6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 rot="2700000">
            <a:off x="7930509" y="3618799"/>
            <a:ext cx="77601" cy="77601"/>
          </a:xfrm>
          <a:prstGeom prst="rect">
            <a:avLst/>
          </a:prstGeom>
          <a:solidFill>
            <a:srgbClr val="0F8A6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 rot="2700000">
            <a:off x="8408876" y="3618799"/>
            <a:ext cx="77601" cy="77601"/>
          </a:xfrm>
          <a:prstGeom prst="rect">
            <a:avLst/>
          </a:prstGeom>
          <a:solidFill>
            <a:srgbClr val="0F8A6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 rot="2700000">
            <a:off x="8871076" y="3602632"/>
            <a:ext cx="109934" cy="109934"/>
          </a:xfrm>
          <a:prstGeom prst="rect">
            <a:avLst/>
          </a:prstGeom>
          <a:solidFill>
            <a:srgbClr val="0F8A6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841588" y="4638294"/>
            <a:ext cx="5444526" cy="68580"/>
          </a:xfrm>
          <a:prstGeom prst="rect">
            <a:avLst/>
          </a:prstGeom>
          <a:solidFill>
            <a:srgbClr val="0F8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5878164" y="4480560"/>
            <a:ext cx="0" cy="128016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5375244" y="4187952"/>
            <a:ext cx="1005840" cy="292608"/>
          </a:xfrm>
          <a:prstGeom prst="rect">
            <a:avLst/>
          </a:prstGeom>
          <a:noFill/>
        </p:spPr>
        <p:txBody>
          <a:bodyPr wrap="none" anchor="b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Testing</a:t>
            </a:r>
          </a:p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18-Apr-28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8160657" y="4736592"/>
            <a:ext cx="0" cy="301752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/>
          <p:cNvSpPr txBox="1"/>
          <p:nvPr/>
        </p:nvSpPr>
        <p:spPr>
          <a:xfrm>
            <a:off x="7657737" y="5038344"/>
            <a:ext cx="100584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700" b="1">
                <a:solidFill>
                  <a:srgbClr val="C00000"/>
                </a:solidFill>
                <a:latin typeface="Calibri"/>
              </a:rPr>
              <a:t>EC @25*</a:t>
            </a:r>
          </a:p>
          <a:p>
            <a:pPr algn="ctr"/>
            <a:r>
              <a:rPr sz="700" b="1">
                <a:solidFill>
                  <a:srgbClr val="C00000"/>
                </a:solidFill>
                <a:latin typeface="Calibri"/>
              </a:rPr>
              <a:t>02-Oct-28</a:t>
            </a:r>
          </a:p>
        </p:txBody>
      </p:sp>
      <p:cxnSp>
        <p:nvCxnSpPr>
          <p:cNvPr id="118" name="Connector 117"/>
          <p:cNvCxnSpPr/>
          <p:nvPr/>
        </p:nvCxnSpPr>
        <p:spPr>
          <a:xfrm flipV="1">
            <a:off x="9500083" y="4306824"/>
            <a:ext cx="0" cy="301752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8997163" y="4014215"/>
            <a:ext cx="1005840" cy="292608"/>
          </a:xfrm>
          <a:prstGeom prst="rect">
            <a:avLst/>
          </a:prstGeom>
          <a:noFill/>
        </p:spPr>
        <p:txBody>
          <a:bodyPr wrap="none" anchor="b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SN Deliv.</a:t>
            </a:r>
          </a:p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08-Jan-29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9910112" y="4736592"/>
            <a:ext cx="0" cy="128016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9407192" y="4864608"/>
            <a:ext cx="100584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MTL Build</a:t>
            </a:r>
          </a:p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07-Feb-29</a:t>
            </a:r>
          </a:p>
        </p:txBody>
      </p:sp>
      <p:cxnSp>
        <p:nvCxnSpPr>
          <p:cNvPr id="122" name="Connector 121"/>
          <p:cNvCxnSpPr/>
          <p:nvPr/>
        </p:nvCxnSpPr>
        <p:spPr>
          <a:xfrm flipV="1">
            <a:off x="10074123" y="4480560"/>
            <a:ext cx="0" cy="128016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/>
          <p:cNvSpPr txBox="1"/>
          <p:nvPr/>
        </p:nvSpPr>
        <p:spPr>
          <a:xfrm>
            <a:off x="9571203" y="4187952"/>
            <a:ext cx="1005840" cy="292608"/>
          </a:xfrm>
          <a:prstGeom prst="rect">
            <a:avLst/>
          </a:prstGeom>
          <a:noFill/>
        </p:spPr>
        <p:txBody>
          <a:bodyPr wrap="none" anchor="b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SN Release</a:t>
            </a:r>
          </a:p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19-Feb-29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10292805" y="4736592"/>
            <a:ext cx="0" cy="301752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/>
          <p:cNvSpPr txBox="1"/>
          <p:nvPr/>
        </p:nvSpPr>
        <p:spPr>
          <a:xfrm>
            <a:off x="9789885" y="5038344"/>
            <a:ext cx="100584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MTL EC</a:t>
            </a:r>
          </a:p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07-Mar-29</a:t>
            </a:r>
          </a:p>
        </p:txBody>
      </p:sp>
      <p:cxnSp>
        <p:nvCxnSpPr>
          <p:cNvPr id="126" name="Connector 125"/>
          <p:cNvCxnSpPr/>
          <p:nvPr/>
        </p:nvCxnSpPr>
        <p:spPr>
          <a:xfrm flipV="1">
            <a:off x="10771172" y="4306824"/>
            <a:ext cx="0" cy="301752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/>
          <p:cNvSpPr txBox="1"/>
          <p:nvPr/>
        </p:nvSpPr>
        <p:spPr>
          <a:xfrm>
            <a:off x="10268252" y="4014215"/>
            <a:ext cx="1005840" cy="292608"/>
          </a:xfrm>
          <a:prstGeom prst="rect">
            <a:avLst/>
          </a:prstGeom>
          <a:noFill/>
        </p:spPr>
        <p:txBody>
          <a:bodyPr wrap="none" anchor="b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Agency</a:t>
            </a:r>
          </a:p>
          <a:p>
            <a:pPr algn="ctr"/>
            <a:r>
              <a:rPr sz="700" b="0">
                <a:solidFill>
                  <a:srgbClr val="5F6672"/>
                </a:solidFill>
                <a:latin typeface="Calibri"/>
              </a:rPr>
              <a:t>11-Apr-29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11249539" y="4736592"/>
            <a:ext cx="0" cy="128016"/>
          </a:xfrm>
          <a:prstGeom prst="line">
            <a:avLst/>
          </a:prstGeom>
          <a:ln w="6350">
            <a:solidFill>
              <a:srgbClr val="B8B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10746619" y="4864608"/>
            <a:ext cx="100584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262626"/>
                </a:solidFill>
                <a:latin typeface="Calibri"/>
              </a:rPr>
              <a:t>1st Prod</a:t>
            </a:r>
          </a:p>
          <a:p>
            <a:pPr algn="ctr"/>
            <a:r>
              <a:rPr sz="750" b="1">
                <a:solidFill>
                  <a:srgbClr val="262626"/>
                </a:solidFill>
                <a:latin typeface="Calibri"/>
              </a:rPr>
              <a:t>16-May-29</a:t>
            </a:r>
          </a:p>
        </p:txBody>
      </p:sp>
      <p:sp>
        <p:nvSpPr>
          <p:cNvPr id="130" name="Rectangle 129"/>
          <p:cNvSpPr/>
          <p:nvPr/>
        </p:nvSpPr>
        <p:spPr>
          <a:xfrm rot="2700000">
            <a:off x="5839364" y="4633783"/>
            <a:ext cx="77601" cy="77601"/>
          </a:xfrm>
          <a:prstGeom prst="rect">
            <a:avLst/>
          </a:prstGeom>
          <a:solidFill>
            <a:srgbClr val="0F8A6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 rot="2700000">
            <a:off x="8121856" y="4633783"/>
            <a:ext cx="77601" cy="77601"/>
          </a:xfrm>
          <a:prstGeom prst="rect">
            <a:avLst/>
          </a:prstGeom>
          <a:solidFill>
            <a:srgbClr val="C000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 rot="2700000">
            <a:off x="9461283" y="4633783"/>
            <a:ext cx="77601" cy="77601"/>
          </a:xfrm>
          <a:prstGeom prst="rect">
            <a:avLst/>
          </a:prstGeom>
          <a:solidFill>
            <a:srgbClr val="0F8A6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 rot="2700000">
            <a:off x="9871311" y="4633783"/>
            <a:ext cx="77601" cy="77601"/>
          </a:xfrm>
          <a:prstGeom prst="rect">
            <a:avLst/>
          </a:prstGeom>
          <a:solidFill>
            <a:srgbClr val="0F8A6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 rot="2700000">
            <a:off x="10035323" y="4633783"/>
            <a:ext cx="77601" cy="77601"/>
          </a:xfrm>
          <a:prstGeom prst="rect">
            <a:avLst/>
          </a:prstGeom>
          <a:solidFill>
            <a:srgbClr val="0F8A6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 rot="2700000">
            <a:off x="10254005" y="4633783"/>
            <a:ext cx="77601" cy="77601"/>
          </a:xfrm>
          <a:prstGeom prst="rect">
            <a:avLst/>
          </a:prstGeom>
          <a:solidFill>
            <a:srgbClr val="0F8A6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 rot="2700000">
            <a:off x="10732371" y="4633783"/>
            <a:ext cx="77601" cy="77601"/>
          </a:xfrm>
          <a:prstGeom prst="rect">
            <a:avLst/>
          </a:prstGeom>
          <a:solidFill>
            <a:srgbClr val="0F8A6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 rot="2700000">
            <a:off x="11194571" y="4617616"/>
            <a:ext cx="109934" cy="109934"/>
          </a:xfrm>
          <a:prstGeom prst="rect">
            <a:avLst/>
          </a:prstGeom>
          <a:solidFill>
            <a:srgbClr val="0F8A6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228600" y="5559552"/>
            <a:ext cx="5806440" cy="1225296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</p:spPr>
        <p:txBody>
          <a:bodyPr wrap="square" tIns="36576" bIns="36576">
            <a:spAutoFit/>
          </a:bodyPr>
          <a:lstStyle/>
          <a:p>
            <a:r>
              <a:rPr sz="1150" b="1">
                <a:solidFill>
                  <a:srgbClr val="2E74B5"/>
                </a:solidFill>
                <a:latin typeface="Calibri"/>
              </a:rPr>
              <a:t>Scenario 1 — Sequential Execution</a:t>
            </a:r>
          </a:p>
          <a:p>
            <a:pPr>
              <a:spcBef>
                <a:spcPts val="200"/>
              </a:spcBef>
            </a:pPr>
            <a:r>
              <a:rPr sz="950" b="1">
                <a:solidFill>
                  <a:srgbClr val="262626"/>
                </a:solidFill>
                <a:latin typeface="Calibri"/>
              </a:rPr>
              <a:t>What it is:  </a:t>
            </a:r>
            <a:r>
              <a:rPr sz="950">
                <a:solidFill>
                  <a:srgbClr val="262626"/>
                </a:solidFill>
                <a:latin typeface="Calibri"/>
              </a:rPr>
              <a:t>Finish the entire 4-Stage program first (testing → EC release → Selection Navigator → agency submission → production release), then start the VFD compressor project.</a:t>
            </a:r>
          </a:p>
          <a:p>
            <a:pPr>
              <a:spcBef>
                <a:spcPts val="200"/>
              </a:spcBef>
            </a:pPr>
            <a:r>
              <a:rPr sz="950" b="1">
                <a:solidFill>
                  <a:srgbClr val="262626"/>
                </a:solidFill>
                <a:latin typeface="Calibri"/>
              </a:rPr>
              <a:t>Challenges:  </a:t>
            </a:r>
            <a:r>
              <a:rPr sz="950">
                <a:solidFill>
                  <a:srgbClr val="262626"/>
                </a:solidFill>
                <a:latin typeface="Calibri"/>
              </a:rPr>
              <a:t>Refrigeration team must run VFD compressor unit testing alongside the Selection Navigator &amp; UL deliverables.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153912" y="5559552"/>
            <a:ext cx="5806440" cy="1225296"/>
          </a:xfrm>
          <a:prstGeom prst="rect">
            <a:avLst/>
          </a:prstGeom>
          <a:solidFill>
            <a:srgbClr val="FFFFFF"/>
          </a:solidFill>
          <a:ln w="9525">
            <a:solidFill>
              <a:srgbClr val="1E7A6F"/>
            </a:solidFill>
          </a:ln>
        </p:spPr>
        <p:txBody>
          <a:bodyPr wrap="square" tIns="36576" bIns="36576">
            <a:spAutoFit/>
          </a:bodyPr>
          <a:lstStyle/>
          <a:p>
            <a:r>
              <a:rPr sz="1150" b="1">
                <a:solidFill>
                  <a:srgbClr val="1E7A6F"/>
                </a:solidFill>
                <a:latin typeface="Calibri"/>
              </a:rPr>
              <a:t>Scenario 2 — Parallel Execution</a:t>
            </a:r>
          </a:p>
          <a:p>
            <a:pPr>
              <a:spcBef>
                <a:spcPts val="200"/>
              </a:spcBef>
            </a:pPr>
            <a:r>
              <a:rPr sz="950" b="1">
                <a:solidFill>
                  <a:srgbClr val="262626"/>
                </a:solidFill>
                <a:latin typeface="Calibri"/>
              </a:rPr>
              <a:t>What it is:  </a:t>
            </a:r>
            <a:r>
              <a:rPr sz="950">
                <a:solidFill>
                  <a:srgbClr val="262626"/>
                </a:solidFill>
                <a:latin typeface="Calibri"/>
              </a:rPr>
              <a:t>As each 4-Stage unit finishes testing, the same unit is converted to a VFD compressor and tested — both programs run concurrently.</a:t>
            </a:r>
          </a:p>
          <a:p>
            <a:pPr>
              <a:spcBef>
                <a:spcPts val="200"/>
              </a:spcBef>
            </a:pPr>
            <a:r>
              <a:rPr sz="950" b="1">
                <a:solidFill>
                  <a:srgbClr val="262626"/>
                </a:solidFill>
                <a:latin typeface="Calibri"/>
              </a:rPr>
              <a:t>Challenges:  </a:t>
            </a:r>
            <a:r>
              <a:rPr sz="950">
                <a:solidFill>
                  <a:srgbClr val="262626"/>
                </a:solidFill>
                <a:latin typeface="Calibri"/>
              </a:rPr>
              <a:t>VFD/EXV firmware &amp; ultra-high-efficiency component selection needed by Nov 2026; refrigeration team can only work one project at a time; EC conflict (4-Stage MTL EC vs VFD EC release); mechanical team loaded on both projects simultaneously.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