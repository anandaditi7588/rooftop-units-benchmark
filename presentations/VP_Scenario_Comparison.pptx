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4-Stage &amp; VFD Compressor Heat Pump Program — Scenario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58368"/>
            <a:ext cx="58064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4B5"/>
                </a:solidFill>
                <a:latin typeface="Calibri"/>
              </a:rPr>
              <a:t>Scenario 1 — Sequential Execution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Complete the full 4-Stage program (testing → EC release → Selection Navigator → agency → production release) before starting the VFD compressor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658368"/>
            <a:ext cx="58064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7A6F"/>
                </a:solidFill>
                <a:latin typeface="Calibri"/>
              </a:rPr>
              <a:t>Scenario 2 — Parallel Execution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As each 4-Stage unit completes testing, the same unit is immediately converted to a VFD compressor and tested (Units 1–4 flow 4-Stage test → VFD test).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481328"/>
          <a:ext cx="117317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2011680"/>
                <a:gridCol w="2011680"/>
                <a:gridCol w="2011680"/>
                <a:gridCol w="2011680"/>
              </a:tblGrid>
              <a:tr h="301752">
                <a:tc rowSpan="2"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 marL="54864" marR="54864" marT="9144" marB="9144">
                    <a:solidFill>
                      <a:srgbClr val="1F3B5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 1 — Sequential</a:t>
                      </a:r>
                    </a:p>
                  </a:txBody>
                  <a:tcPr anchor="ctr" marL="54864" marR="54864" marT="9144" marB="9144">
                    <a:solidFill>
                      <a:srgbClr val="2E74B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 2 — Parallel</a:t>
                      </a:r>
                    </a:p>
                  </a:txBody>
                  <a:tcPr anchor="ctr" marL="54864" marR="54864" marT="9144" marB="9144">
                    <a:solidFill>
                      <a:srgbClr val="1E7A6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4-Stage</a:t>
                      </a:r>
                    </a:p>
                  </a:txBody>
                  <a:tcPr anchor="ctr" marL="54864" marR="54864" marT="9144" marB="9144"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VFD Compressor</a:t>
                      </a:r>
                    </a:p>
                  </a:txBody>
                  <a:tcPr anchor="ctr" marL="54864" marR="54864" marT="9144" marB="9144"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4-Stage</a:t>
                      </a:r>
                    </a:p>
                  </a:txBody>
                  <a:tcPr anchor="ctr" marL="54864" marR="54864" marT="9144" marB="9144">
                    <a:solidFill>
                      <a:srgbClr val="1E7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VFD Compressor</a:t>
                      </a:r>
                    </a:p>
                  </a:txBody>
                  <a:tcPr anchor="ctr" marL="54864" marR="54864" marT="9144" marB="9144">
                    <a:solidFill>
                      <a:srgbClr val="1E7A6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Testing Complete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19-Jul-27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25-Apr-28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5-Nov-27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18-Apr-28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EC Release @25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26-Oct-27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5-Oct-28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25-Apr-28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Calibri"/>
                        </a:rPr>
                        <a:t>2-Oct-28 ⚠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Sel. Navigator Deliverable Release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25-Feb-28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1-Jan-29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20-Jul-28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8-Jan-29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Selection Navigator Release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7-Apr-28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12-Feb-29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31-Aug-28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19-Feb-29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MTL Build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28-Mar-28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31-Jan-29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21-Aug-28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7-Feb-29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MTL EC Release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25-Apr-28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28-Feb-29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18-Sep-28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7-Mar-29</a:t>
                      </a:r>
                    </a:p>
                  </a:txBody>
                  <a:tcPr anchor="ctr" marL="54864" marR="54864" marT="9144" marB="9144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Agency Approval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30-May-28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4-Apr-29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23-Oct-28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11-Apr-29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1st Production</a:t>
                      </a:r>
                    </a:p>
                  </a:txBody>
                  <a:tcPr anchor="ctr" marL="54864" marR="54864" marT="9144" marB="9144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28-Jul-28</a:t>
                      </a:r>
                    </a:p>
                  </a:txBody>
                  <a:tcPr anchor="ctr" marL="54864" marR="54864" marT="9144" marB="9144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9-May-29</a:t>
                      </a:r>
                    </a:p>
                  </a:txBody>
                  <a:tcPr anchor="ctr" marL="54864" marR="54864" marT="9144" marB="9144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27-Nov-28</a:t>
                      </a:r>
                    </a:p>
                  </a:txBody>
                  <a:tcPr anchor="ctr" marL="54864" marR="54864" marT="9144" marB="9144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16-May-29</a:t>
                      </a:r>
                    </a:p>
                  </a:txBody>
                  <a:tcPr anchor="ctr" marL="54864" marR="54864" marT="9144" marB="9144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4526280"/>
            <a:ext cx="1173175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C00000"/>
                </a:solidFill>
                <a:latin typeface="Calibri"/>
              </a:rPr>
              <a:t>⚠ 2-Oct-28: EC release team conflict between 4-Stage MTL EC and VFD compressor EC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4828032"/>
            <a:ext cx="5806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Scenario 1 — Challenges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• Refrigeration team must work on VFD compressor unit testing in parallel with Selection Navigator &amp; UL deliverables.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828032"/>
            <a:ext cx="5806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E7A6F"/>
            </a:solidFill>
          </a:ln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7A6F"/>
                </a:solidFill>
                <a:latin typeface="Calibri"/>
              </a:rPr>
              <a:t>Scenario 2 — Challenges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Calibri"/>
              </a:rPr>
              <a:t>• Firmware for VFD compressor &amp; EXV must be ready by Nov 2026    • Ultra-high-efficiency component selection needed before Nov 2026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Calibri"/>
              </a:rPr>
              <a:t>• Refrigeration team can only work one project at a time    • EC conflict: 4-Stage MTL EC vs. VFD EC release    • Mechanical team loaded on both projects simultaneously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199632"/>
            <a:ext cx="11731752" cy="50292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Key takeaway:  Sequential execution (Scenario 1) reaches 4-Stage 1st production ~4 months earlier (28-Jul-28 vs 27-Nov-28) and VFD 1st production ~1 week earlier (9-May-29 vs 16-May-29), with fewer resource and EC conflicts.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Program Timeline — Gantt View: Sequential vs Parallel Execution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504"/>
            <a:ext cx="12191695" cy="4892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59552"/>
            <a:ext cx="580644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</p:spPr>
        <p:txBody>
          <a:bodyPr wrap="square" tIns="36576" bIns="36576">
            <a:spAutoFit/>
          </a:bodyPr>
          <a:lstStyle/>
          <a:p>
            <a:r>
              <a:rPr sz="1150" b="1">
                <a:solidFill>
                  <a:srgbClr val="2E74B5"/>
                </a:solidFill>
                <a:latin typeface="Calibri"/>
              </a:rPr>
              <a:t>Scenario 1 — Sequential Execution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262626"/>
                </a:solidFill>
                <a:latin typeface="Calibri"/>
              </a:rPr>
              <a:t>What it is:  </a:t>
            </a:r>
            <a:r>
              <a:rPr sz="950">
                <a:solidFill>
                  <a:srgbClr val="262626"/>
                </a:solidFill>
                <a:latin typeface="Calibri"/>
              </a:rPr>
              <a:t>Finish the entire 4-Stage program first (testing → EC release → Selection Navigator → agency submission → production release), then start the VFD compressor project.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262626"/>
                </a:solidFill>
                <a:latin typeface="Calibri"/>
              </a:rPr>
              <a:t>Challenges:  </a:t>
            </a:r>
            <a:r>
              <a:rPr sz="950">
                <a:solidFill>
                  <a:srgbClr val="262626"/>
                </a:solidFill>
                <a:latin typeface="Calibri"/>
              </a:rPr>
              <a:t>Refrigeration team must run VFD compressor unit testing alongside the Selection Navigator &amp; UL deliverables.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3912" y="5559552"/>
            <a:ext cx="580644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1E7A6F"/>
            </a:solidFill>
          </a:ln>
        </p:spPr>
        <p:txBody>
          <a:bodyPr wrap="square" tIns="36576" bIns="36576">
            <a:spAutoFit/>
          </a:bodyPr>
          <a:lstStyle/>
          <a:p>
            <a:r>
              <a:rPr sz="1150" b="1">
                <a:solidFill>
                  <a:srgbClr val="1E7A6F"/>
                </a:solidFill>
                <a:latin typeface="Calibri"/>
              </a:rPr>
              <a:t>Scenario 2 — Parallel Execution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262626"/>
                </a:solidFill>
                <a:latin typeface="Calibri"/>
              </a:rPr>
              <a:t>What it is:  </a:t>
            </a:r>
            <a:r>
              <a:rPr sz="950">
                <a:solidFill>
                  <a:srgbClr val="262626"/>
                </a:solidFill>
                <a:latin typeface="Calibri"/>
              </a:rPr>
              <a:t>As each 4-Stage unit finishes testing, the same unit is converted to a VFD compressor and tested — both programs run concurrently.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262626"/>
                </a:solidFill>
                <a:latin typeface="Calibri"/>
              </a:rPr>
              <a:t>Challenges:  </a:t>
            </a:r>
            <a:r>
              <a:rPr sz="950">
                <a:solidFill>
                  <a:srgbClr val="262626"/>
                </a:solidFill>
                <a:latin typeface="Calibri"/>
              </a:rPr>
              <a:t>VFD/EXV firmware &amp; ultra-high-efficiency component selection needed by Nov 2026; refrigeration team can only work one project at a time; EC conflict (4-Stage MTL EC vs VFD EC release); mechanical team loaded on both projects simultaneously.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