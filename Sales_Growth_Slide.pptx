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 (Qty)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  <c:pt idx="7">
                    <c:v>2026 (AOP)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38</c:v>
                </c:pt>
                <c:pt idx="1">
                  <c:v>1167</c:v>
                </c:pt>
                <c:pt idx="2">
                  <c:v>2189</c:v>
                </c:pt>
                <c:pt idx="3">
                  <c:v>2197</c:v>
                </c:pt>
                <c:pt idx="4">
                  <c:v>6444</c:v>
                </c:pt>
                <c:pt idx="5">
                  <c:v>8384</c:v>
                </c:pt>
                <c:pt idx="6">
                  <c:v>6267</c:v>
                </c:pt>
                <c:pt idx="7">
                  <c:v>6919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E0A33E"/>
            </a:solidFill>
            <a:ln w="38100" cap="flat">
              <a:solidFill>
                <a:srgbClr val="E0A33E"/>
              </a:solidFill>
              <a:prstDash val="solid"/>
              <a:round/>
            </a:ln>
            <a:effectLst/>
          </c:spPr>
          <c:invertIfNegative val="0"/>
          <c:dLbls>
            <c:numFmt formatCode="&quot;$&quot;#,##0.0&quot;M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9A6B14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E0A33E"/>
              </a:solidFill>
              <a:ln w="9525" cap="flat">
                <a:solidFill>
                  <a:srgbClr val="E0A33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  <c:pt idx="7">
                    <c:v>2026 (AOP)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0.5</c:v>
                </c:pt>
                <c:pt idx="1">
                  <c:v>14.4</c:v>
                </c:pt>
                <c:pt idx="2">
                  <c:v>26.5</c:v>
                </c:pt>
                <c:pt idx="3">
                  <c:v>30.8</c:v>
                </c:pt>
                <c:pt idx="4">
                  <c:v>115</c:v>
                </c:pt>
                <c:pt idx="5">
                  <c:v>162.8</c:v>
                </c:pt>
                <c:pt idx="6">
                  <c:v>130.2</c:v>
                </c:pt>
                <c:pt idx="7">
                  <c:v>153.3</c:v>
                </c:pt>
              </c:numCache>
            </c:numRef>
          </c:val>
          <c:smooth val="0"/>
        </c:ser>
        <c:dLbls>
          <c:numFmt formatCode="&quot;$&quot;#,##0.0&quot;M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9A6B14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327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9F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1E2761"/>
                    </a:solidFill>
                    <a:latin typeface="Arial"/>
                  </a:rPr>
                  <a:t>Units (Qty)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</c:scaling>
        <c:delete val="0"/>
        <c:axPos val="r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E0A33E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E0A33E"/>
                    </a:solidFill>
                    <a:latin typeface="Arial"/>
                  </a:rPr>
                  <a:t>Revenue ($M)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3272E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23272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Single-slide executive summary of sales volume (units) and revenue by calendar year, FY2019 through FY2026 AOP. Units shown as navy columns on the left axis; revenue ($M) shown as the gold line on the right axis. KPI cards summarize cumulative units (29,601), cumulative revenue ($542M), and peak-year revenue ($163M in FY2024).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Volume &amp; Revenue Growth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75488" y="93268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Year FY2019 – FY2026 (AOP)   •   Units and Revenue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11480" y="1463040"/>
          <a:ext cx="809244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823960" y="1463040"/>
            <a:ext cx="2926080" cy="1481328"/>
          </a:xfrm>
          <a:prstGeom prst="roundRect">
            <a:avLst>
              <a:gd name="adj" fmla="val 6173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25400" dir="5400000">
              <a:srgbClr val="9AA5B8">
                <a:alpha val="3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823960" y="1463040"/>
            <a:ext cx="128016" cy="1481328"/>
          </a:xfrm>
          <a:prstGeom prst="roundRect">
            <a:avLst>
              <a:gd name="adj" fmla="val 42857"/>
            </a:avLst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9079992" y="1609344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29,601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9098280" y="221284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units shipped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098280" y="250545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FY2019–FY2026 (AOP)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823960" y="3200400"/>
            <a:ext cx="2926080" cy="1481328"/>
          </a:xfrm>
          <a:prstGeom prst="roundRect">
            <a:avLst>
              <a:gd name="adj" fmla="val 6173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25400" dir="5400000">
              <a:srgbClr val="9AA5B8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823960" y="3200400"/>
            <a:ext cx="128016" cy="1481328"/>
          </a:xfrm>
          <a:prstGeom prst="roundRect">
            <a:avLst>
              <a:gd name="adj" fmla="val 42857"/>
            </a:avLst>
          </a:prstGeom>
          <a:solidFill>
            <a:srgbClr val="E0A33E"/>
          </a:solidFill>
          <a:ln/>
        </p:spPr>
      </p:sp>
      <p:sp>
        <p:nvSpPr>
          <p:cNvPr id="12" name="Text 9"/>
          <p:cNvSpPr/>
          <p:nvPr/>
        </p:nvSpPr>
        <p:spPr>
          <a:xfrm>
            <a:off x="9079992" y="3346704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0A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$542M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9098280" y="395020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revenue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098280" y="424281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Eight-year total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823960" y="4937760"/>
            <a:ext cx="2926080" cy="1481328"/>
          </a:xfrm>
          <a:prstGeom prst="roundRect">
            <a:avLst>
              <a:gd name="adj" fmla="val 6173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25400" dir="5400000">
              <a:srgbClr val="9AA5B8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823960" y="4937760"/>
            <a:ext cx="128016" cy="1481328"/>
          </a:xfrm>
          <a:prstGeom prst="roundRect">
            <a:avLst>
              <a:gd name="adj" fmla="val 42857"/>
            </a:avLst>
          </a:prstGeom>
          <a:solidFill>
            <a:srgbClr val="3A4A8C"/>
          </a:solidFill>
          <a:ln/>
        </p:spPr>
      </p:sp>
      <p:sp>
        <p:nvSpPr>
          <p:cNvPr id="17" name="Text 14"/>
          <p:cNvSpPr/>
          <p:nvPr/>
        </p:nvSpPr>
        <p:spPr>
          <a:xfrm>
            <a:off x="9079992" y="5084064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A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$163M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9098280" y="568756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Peak-year revenue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9098280" y="598017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 high-water mark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Sales Volumes (Units) and Revenue, Sheet1.  AOP = Annual Operating Plan.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2026-07-21T07:22:31Z</dcterms:created>
  <dcterms:modified xsi:type="dcterms:W3CDTF">2026-07-21T07:22:31Z</dcterms:modified>
</cp:coreProperties>
</file>