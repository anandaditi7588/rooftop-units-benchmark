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Competitive Landscape matrix (recreated cleanly). Rows = efficiency tiers (1 Std Downflow up to 6 Ultra-High Side flow); columns = Bosch / Carrier / Trane, split into Cooling Units and Heat Pump. Colored cell = vendor offers that tier (teal=Standard, pink=High, rose=Ultra-High); red X = gap in offering (opportunity). Cooling: Bosch has 1-3, Carrier 1-4, Trane all 6. Heat pump: Bosch has 1, Carrier &amp; Trane 1-4; ultra-high tiers n/a for heat pump.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75488" y="896112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Opportunity: gaps in offering  ·  long lead times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874520" y="1417320"/>
            <a:ext cx="1810512" cy="256032"/>
          </a:xfrm>
          <a:prstGeom prst="rect">
            <a:avLst/>
          </a:prstGeom>
          <a:solidFill>
            <a:srgbClr val="EEF1F6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74520" y="1417320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COOLING UNITS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904488" y="1417320"/>
            <a:ext cx="1810512" cy="256032"/>
          </a:xfrm>
          <a:prstGeom prst="rect">
            <a:avLst/>
          </a:prstGeom>
          <a:solidFill>
            <a:srgbClr val="EEF1F6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04488" y="1417320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PUMP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1874520" y="1700784"/>
            <a:ext cx="603504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74520" y="1700784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20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BOSCH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78024" y="1700784"/>
            <a:ext cx="603504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78024" y="1700784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081528" y="1700784"/>
            <a:ext cx="603504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81528" y="1700784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5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904488" y="1700784"/>
            <a:ext cx="603504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04488" y="1700784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20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BOSCH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07992" y="1700784"/>
            <a:ext cx="603504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07992" y="1700784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111496" y="1700784"/>
            <a:ext cx="603504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11496" y="1700784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5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1993392"/>
            <a:ext cx="141732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2064" y="1993392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7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</a:t>
            </a:r>
            <a:pPr algn="l" indent="0" marL="0">
              <a:buNone/>
            </a:pPr>
            <a:r>
              <a:rPr lang="en-US" sz="8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Ultra-High · Side flow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57200" y="2404872"/>
            <a:ext cx="141732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2064" y="2404872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7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</a:t>
            </a:r>
            <a:pPr algn="l" indent="0" marL="0">
              <a:buNone/>
            </a:pPr>
            <a:r>
              <a:rPr lang="en-US" sz="8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Ultra-High · Downflow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57200" y="2816352"/>
            <a:ext cx="141732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2064" y="2816352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7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pPr algn="l" indent="0" marL="0">
              <a:buNone/>
            </a:pPr>
            <a:r>
              <a:rPr lang="en-US" sz="8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Eff · Side flow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57200" y="3227832"/>
            <a:ext cx="141732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" y="3227832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7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pPr algn="l" indent="0" marL="0">
              <a:buNone/>
            </a:pPr>
            <a:r>
              <a:rPr lang="en-US" sz="8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Eff · Downflow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57200" y="3639312"/>
            <a:ext cx="141732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2064" y="3639312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8B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pPr algn="l" indent="0" marL="0">
              <a:buNone/>
            </a:pPr>
            <a:r>
              <a:rPr lang="en-US" sz="8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Eff · Side flow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57200" y="4050792"/>
            <a:ext cx="141732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2064" y="4050792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8B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pPr algn="l" indent="0" marL="0">
              <a:buNone/>
            </a:pPr>
            <a:r>
              <a:rPr lang="en-US" sz="8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Eff · Downflow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1874520" y="1993392"/>
            <a:ext cx="603504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011680" y="2130552"/>
            <a:ext cx="329184" cy="137160"/>
          </a:xfrm>
          <a:prstGeom prst="line">
            <a:avLst/>
          </a:prstGeom>
          <a:noFill/>
          <a:ln w="28575">
            <a:solidFill>
              <a:srgbClr val="CE1B2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flipV="1">
            <a:off x="2011680" y="2130552"/>
            <a:ext cx="329184" cy="137160"/>
          </a:xfrm>
          <a:prstGeom prst="line">
            <a:avLst/>
          </a:prstGeom>
          <a:noFill/>
          <a:ln w="28575">
            <a:solidFill>
              <a:srgbClr val="CE1B2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874520" y="2404872"/>
            <a:ext cx="603504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011680" y="2542032"/>
            <a:ext cx="329184" cy="137160"/>
          </a:xfrm>
          <a:prstGeom prst="line">
            <a:avLst/>
          </a:prstGeom>
          <a:noFill/>
          <a:ln w="28575">
            <a:solidFill>
              <a:srgbClr val="CE1B2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flipV="1">
            <a:off x="2011680" y="2542032"/>
            <a:ext cx="329184" cy="137160"/>
          </a:xfrm>
          <a:prstGeom prst="line">
            <a:avLst/>
          </a:prstGeom>
          <a:noFill/>
          <a:ln w="28575">
            <a:solidFill>
              <a:srgbClr val="CE1B2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874520" y="2816352"/>
            <a:ext cx="603504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011680" y="2953512"/>
            <a:ext cx="329184" cy="137160"/>
          </a:xfrm>
          <a:prstGeom prst="line">
            <a:avLst/>
          </a:prstGeom>
          <a:noFill/>
          <a:ln w="28575">
            <a:solidFill>
              <a:srgbClr val="CE1B2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flipV="1">
            <a:off x="2011680" y="2953512"/>
            <a:ext cx="329184" cy="137160"/>
          </a:xfrm>
          <a:prstGeom prst="line">
            <a:avLst/>
          </a:prstGeom>
          <a:noFill/>
          <a:ln w="28575">
            <a:solidFill>
              <a:srgbClr val="CE1B2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874520" y="3227832"/>
            <a:ext cx="603504" cy="411480"/>
          </a:xfrm>
          <a:prstGeom prst="rect">
            <a:avLst/>
          </a:prstGeom>
          <a:solidFill>
            <a:srgbClr val="E79AA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874520" y="3639312"/>
            <a:ext cx="603504" cy="411480"/>
          </a:xfrm>
          <a:prstGeom prst="rect">
            <a:avLst/>
          </a:prstGeom>
          <a:solidFill>
            <a:srgbClr val="58B4C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874520" y="4050792"/>
            <a:ext cx="603504" cy="411480"/>
          </a:xfrm>
          <a:prstGeom prst="rect">
            <a:avLst/>
          </a:prstGeom>
          <a:solidFill>
            <a:srgbClr val="58B4C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478024" y="1993392"/>
            <a:ext cx="603504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615184" y="2130552"/>
            <a:ext cx="329184" cy="137160"/>
          </a:xfrm>
          <a:prstGeom prst="line">
            <a:avLst/>
          </a:prstGeom>
          <a:noFill/>
          <a:ln w="28575">
            <a:solidFill>
              <a:srgbClr val="CE1B2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flipV="1">
            <a:off x="2615184" y="2130552"/>
            <a:ext cx="329184" cy="137160"/>
          </a:xfrm>
          <a:prstGeom prst="line">
            <a:avLst/>
          </a:prstGeom>
          <a:noFill/>
          <a:ln w="28575">
            <a:solidFill>
              <a:srgbClr val="CE1B2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478024" y="2404872"/>
            <a:ext cx="603504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615184" y="2542032"/>
            <a:ext cx="329184" cy="137160"/>
          </a:xfrm>
          <a:prstGeom prst="line">
            <a:avLst/>
          </a:prstGeom>
          <a:noFill/>
          <a:ln w="28575">
            <a:solidFill>
              <a:srgbClr val="CE1B2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flipV="1">
            <a:off x="2615184" y="2542032"/>
            <a:ext cx="329184" cy="137160"/>
          </a:xfrm>
          <a:prstGeom prst="line">
            <a:avLst/>
          </a:prstGeom>
          <a:noFill/>
          <a:ln w="28575">
            <a:solidFill>
              <a:srgbClr val="CE1B2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478024" y="2816352"/>
            <a:ext cx="603504" cy="411480"/>
          </a:xfrm>
          <a:prstGeom prst="rect">
            <a:avLst/>
          </a:prstGeom>
          <a:solidFill>
            <a:srgbClr val="E79AA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478024" y="3227832"/>
            <a:ext cx="603504" cy="411480"/>
          </a:xfrm>
          <a:prstGeom prst="rect">
            <a:avLst/>
          </a:prstGeom>
          <a:solidFill>
            <a:srgbClr val="E79AA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478024" y="3639312"/>
            <a:ext cx="603504" cy="411480"/>
          </a:xfrm>
          <a:prstGeom prst="rect">
            <a:avLst/>
          </a:prstGeom>
          <a:solidFill>
            <a:srgbClr val="58B4C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478024" y="4050792"/>
            <a:ext cx="603504" cy="411480"/>
          </a:xfrm>
          <a:prstGeom prst="rect">
            <a:avLst/>
          </a:prstGeom>
          <a:solidFill>
            <a:srgbClr val="58B4C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081528" y="1993392"/>
            <a:ext cx="603504" cy="411480"/>
          </a:xfrm>
          <a:prstGeom prst="rect">
            <a:avLst/>
          </a:prstGeom>
          <a:solidFill>
            <a:srgbClr val="C77E8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081528" y="2404872"/>
            <a:ext cx="603504" cy="411480"/>
          </a:xfrm>
          <a:prstGeom prst="rect">
            <a:avLst/>
          </a:prstGeom>
          <a:solidFill>
            <a:srgbClr val="C77E8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081528" y="2816352"/>
            <a:ext cx="603504" cy="411480"/>
          </a:xfrm>
          <a:prstGeom prst="rect">
            <a:avLst/>
          </a:prstGeom>
          <a:solidFill>
            <a:srgbClr val="E79AA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081528" y="3227832"/>
            <a:ext cx="603504" cy="411480"/>
          </a:xfrm>
          <a:prstGeom prst="rect">
            <a:avLst/>
          </a:prstGeom>
          <a:solidFill>
            <a:srgbClr val="E79AA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081528" y="3639312"/>
            <a:ext cx="603504" cy="411480"/>
          </a:xfrm>
          <a:prstGeom prst="rect">
            <a:avLst/>
          </a:prstGeom>
          <a:solidFill>
            <a:srgbClr val="58B4C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081528" y="4050792"/>
            <a:ext cx="603504" cy="411480"/>
          </a:xfrm>
          <a:prstGeom prst="rect">
            <a:avLst/>
          </a:prstGeom>
          <a:solidFill>
            <a:srgbClr val="58B4C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904488" y="1993392"/>
            <a:ext cx="603504" cy="411480"/>
          </a:xfrm>
          <a:prstGeom prst="rect">
            <a:avLst/>
          </a:prstGeom>
          <a:solidFill>
            <a:srgbClr val="E7EAEF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904488" y="1993392"/>
            <a:ext cx="603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3904488" y="2404872"/>
            <a:ext cx="603504" cy="411480"/>
          </a:xfrm>
          <a:prstGeom prst="rect">
            <a:avLst/>
          </a:prstGeom>
          <a:solidFill>
            <a:srgbClr val="E7EAEF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904488" y="2404872"/>
            <a:ext cx="603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3904488" y="2816352"/>
            <a:ext cx="603504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041648" y="2953512"/>
            <a:ext cx="329184" cy="137160"/>
          </a:xfrm>
          <a:prstGeom prst="line">
            <a:avLst/>
          </a:prstGeom>
          <a:noFill/>
          <a:ln w="28575">
            <a:solidFill>
              <a:srgbClr val="CE1B2C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 flipV="1">
            <a:off x="4041648" y="2953512"/>
            <a:ext cx="329184" cy="137160"/>
          </a:xfrm>
          <a:prstGeom prst="line">
            <a:avLst/>
          </a:prstGeom>
          <a:noFill/>
          <a:ln w="28575">
            <a:solidFill>
              <a:srgbClr val="CE1B2C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904488" y="3227832"/>
            <a:ext cx="603504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041648" y="3364992"/>
            <a:ext cx="329184" cy="137160"/>
          </a:xfrm>
          <a:prstGeom prst="line">
            <a:avLst/>
          </a:prstGeom>
          <a:noFill/>
          <a:ln w="28575">
            <a:solidFill>
              <a:srgbClr val="CE1B2C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 flipV="1">
            <a:off x="4041648" y="3364992"/>
            <a:ext cx="329184" cy="137160"/>
          </a:xfrm>
          <a:prstGeom prst="line">
            <a:avLst/>
          </a:prstGeom>
          <a:noFill/>
          <a:ln w="28575">
            <a:solidFill>
              <a:srgbClr val="CE1B2C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3904488" y="3639312"/>
            <a:ext cx="603504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041648" y="3776472"/>
            <a:ext cx="329184" cy="137160"/>
          </a:xfrm>
          <a:prstGeom prst="line">
            <a:avLst/>
          </a:prstGeom>
          <a:noFill/>
          <a:ln w="28575">
            <a:solidFill>
              <a:srgbClr val="CE1B2C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 flipV="1">
            <a:off x="4041648" y="3776472"/>
            <a:ext cx="329184" cy="137160"/>
          </a:xfrm>
          <a:prstGeom prst="line">
            <a:avLst/>
          </a:prstGeom>
          <a:noFill/>
          <a:ln w="28575">
            <a:solidFill>
              <a:srgbClr val="CE1B2C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3904488" y="4050792"/>
            <a:ext cx="603504" cy="411480"/>
          </a:xfrm>
          <a:prstGeom prst="rect">
            <a:avLst/>
          </a:prstGeom>
          <a:solidFill>
            <a:srgbClr val="58B4C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507992" y="1993392"/>
            <a:ext cx="603504" cy="411480"/>
          </a:xfrm>
          <a:prstGeom prst="rect">
            <a:avLst/>
          </a:prstGeom>
          <a:solidFill>
            <a:srgbClr val="E7EAEF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507992" y="1993392"/>
            <a:ext cx="603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4507992" y="2404872"/>
            <a:ext cx="603504" cy="411480"/>
          </a:xfrm>
          <a:prstGeom prst="rect">
            <a:avLst/>
          </a:prstGeom>
          <a:solidFill>
            <a:srgbClr val="E7EAEF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507992" y="2404872"/>
            <a:ext cx="603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4507992" y="2816352"/>
            <a:ext cx="603504" cy="411480"/>
          </a:xfrm>
          <a:prstGeom prst="rect">
            <a:avLst/>
          </a:prstGeom>
          <a:solidFill>
            <a:srgbClr val="E79AA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507992" y="3227832"/>
            <a:ext cx="603504" cy="411480"/>
          </a:xfrm>
          <a:prstGeom prst="rect">
            <a:avLst/>
          </a:prstGeom>
          <a:solidFill>
            <a:srgbClr val="E79AA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4507992" y="3639312"/>
            <a:ext cx="603504" cy="411480"/>
          </a:xfrm>
          <a:prstGeom prst="rect">
            <a:avLst/>
          </a:prstGeom>
          <a:solidFill>
            <a:srgbClr val="58B4C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4507992" y="4050792"/>
            <a:ext cx="603504" cy="411480"/>
          </a:xfrm>
          <a:prstGeom prst="rect">
            <a:avLst/>
          </a:prstGeom>
          <a:solidFill>
            <a:srgbClr val="58B4C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5111496" y="1993392"/>
            <a:ext cx="603504" cy="411480"/>
          </a:xfrm>
          <a:prstGeom prst="rect">
            <a:avLst/>
          </a:prstGeom>
          <a:solidFill>
            <a:srgbClr val="E7EAEF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111496" y="1993392"/>
            <a:ext cx="603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5111496" y="2404872"/>
            <a:ext cx="603504" cy="411480"/>
          </a:xfrm>
          <a:prstGeom prst="rect">
            <a:avLst/>
          </a:prstGeom>
          <a:solidFill>
            <a:srgbClr val="E7EAEF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111496" y="2404872"/>
            <a:ext cx="603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5111496" y="2816352"/>
            <a:ext cx="603504" cy="411480"/>
          </a:xfrm>
          <a:prstGeom prst="rect">
            <a:avLst/>
          </a:prstGeom>
          <a:solidFill>
            <a:srgbClr val="E79AA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5111496" y="3227832"/>
            <a:ext cx="603504" cy="411480"/>
          </a:xfrm>
          <a:prstGeom prst="rect">
            <a:avLst/>
          </a:prstGeom>
          <a:solidFill>
            <a:srgbClr val="E79AA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111496" y="3639312"/>
            <a:ext cx="603504" cy="411480"/>
          </a:xfrm>
          <a:prstGeom prst="rect">
            <a:avLst/>
          </a:prstGeom>
          <a:solidFill>
            <a:srgbClr val="58B4C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5111496" y="4050792"/>
            <a:ext cx="603504" cy="411480"/>
          </a:xfrm>
          <a:prstGeom prst="rect">
            <a:avLst/>
          </a:prstGeom>
          <a:solidFill>
            <a:srgbClr val="58B4C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457200" y="4663440"/>
            <a:ext cx="201168" cy="164592"/>
          </a:xfrm>
          <a:prstGeom prst="rect">
            <a:avLst/>
          </a:prstGeom>
          <a:solidFill>
            <a:srgbClr val="58B4C1"/>
          </a:solidFill>
          <a:ln w="6350">
            <a:solidFill>
              <a:srgbClr val="D8DCE3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713232" y="462686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Eff.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1691640" y="4663440"/>
            <a:ext cx="201168" cy="164592"/>
          </a:xfrm>
          <a:prstGeom prst="rect">
            <a:avLst/>
          </a:prstGeom>
          <a:solidFill>
            <a:srgbClr val="E79AA1"/>
          </a:solidFill>
          <a:ln w="6350">
            <a:solidFill>
              <a:srgbClr val="D8DCE3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1947672" y="462686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Eff.</a:t>
            </a:r>
            <a:endParaRPr lang="en-US" sz="850" dirty="0"/>
          </a:p>
        </p:txBody>
      </p:sp>
      <p:sp>
        <p:nvSpPr>
          <p:cNvPr id="94" name="Shape 92"/>
          <p:cNvSpPr/>
          <p:nvPr/>
        </p:nvSpPr>
        <p:spPr>
          <a:xfrm>
            <a:off x="2788920" y="4663440"/>
            <a:ext cx="201168" cy="164592"/>
          </a:xfrm>
          <a:prstGeom prst="rect">
            <a:avLst/>
          </a:prstGeom>
          <a:solidFill>
            <a:srgbClr val="C77E8A"/>
          </a:solidFill>
          <a:ln w="6350">
            <a:solidFill>
              <a:srgbClr val="D8DCE3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044952" y="462686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Ultra-High Eff.</a:t>
            </a:r>
            <a:endParaRPr lang="en-US" sz="850" dirty="0"/>
          </a:p>
        </p:txBody>
      </p:sp>
      <p:sp>
        <p:nvSpPr>
          <p:cNvPr id="96" name="Shape 94"/>
          <p:cNvSpPr/>
          <p:nvPr/>
        </p:nvSpPr>
        <p:spPr>
          <a:xfrm>
            <a:off x="4069080" y="4663440"/>
            <a:ext cx="201168" cy="164592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4105656" y="4695444"/>
            <a:ext cx="128016" cy="100584"/>
          </a:xfrm>
          <a:prstGeom prst="line">
            <a:avLst/>
          </a:prstGeom>
          <a:noFill/>
          <a:ln w="22225">
            <a:solidFill>
              <a:srgbClr val="CE1B2C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 flipV="1">
            <a:off x="4105656" y="4695444"/>
            <a:ext cx="128016" cy="100584"/>
          </a:xfrm>
          <a:prstGeom prst="line">
            <a:avLst/>
          </a:prstGeom>
          <a:noFill/>
          <a:ln w="22225">
            <a:solidFill>
              <a:srgbClr val="CE1B2C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4325112" y="462686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= opportunity</a:t>
            </a:r>
            <a:endParaRPr lang="en-US" sz="850" dirty="0"/>
          </a:p>
        </p:txBody>
      </p:sp>
      <p:sp>
        <p:nvSpPr>
          <p:cNvPr id="100" name="Text 98"/>
          <p:cNvSpPr/>
          <p:nvPr/>
        </p:nvSpPr>
        <p:spPr>
          <a:xfrm>
            <a:off x="457200" y="4919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= not applicable (no ultra-high heat pump)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2026-07-21T10:22:50Z</dcterms:created>
  <dcterms:modified xsi:type="dcterms:W3CDTF">2026-07-21T10:22:50Z</dcterms:modified>
</cp:coreProperties>
</file>