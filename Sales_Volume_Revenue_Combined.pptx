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(Qty)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
(AOP)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38</c:v>
                </c:pt>
                <c:pt idx="1">
                  <c:v>1167</c:v>
                </c:pt>
                <c:pt idx="2">
                  <c:v>2189</c:v>
                </c:pt>
                <c:pt idx="3">
                  <c:v>2197</c:v>
                </c:pt>
                <c:pt idx="4">
                  <c:v>6444</c:v>
                </c:pt>
                <c:pt idx="5">
                  <c:v>8384</c:v>
                </c:pt>
                <c:pt idx="6">
                  <c:v>6267</c:v>
                </c:pt>
                <c:pt idx="7">
                  <c:v>6919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E0A33E"/>
            </a:solidFill>
            <a:ln w="38100" cap="flat">
              <a:solidFill>
                <a:srgbClr val="E0A33E"/>
              </a:solidFill>
              <a:prstDash val="solid"/>
              <a:round/>
            </a:ln>
            <a:effectLst/>
          </c:spPr>
          <c:invertIfNegative val="0"/>
          <c:dLbls>
            <c:numFmt formatCode="&quot;$&quot;#,##0.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9A6B14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0A33E"/>
              </a:solidFill>
              <a:ln w="9525" cap="flat">
                <a:solidFill>
                  <a:srgbClr val="E0A3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
(AOP)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0.5</c:v>
                </c:pt>
                <c:pt idx="1">
                  <c:v>14.4</c:v>
                </c:pt>
                <c:pt idx="2">
                  <c:v>26.5</c:v>
                </c:pt>
                <c:pt idx="3">
                  <c:v>30.8</c:v>
                </c:pt>
                <c:pt idx="4">
                  <c:v>115</c:v>
                </c:pt>
                <c:pt idx="5">
                  <c:v>162.8</c:v>
                </c:pt>
                <c:pt idx="6">
                  <c:v>130.2</c:v>
                </c:pt>
                <c:pt idx="7">
                  <c:v>153.3</c:v>
                </c:pt>
              </c:numCache>
            </c:numRef>
          </c:val>
          <c:smooth val="0"/>
        </c:ser>
        <c:dLbls>
          <c:numFmt formatCode="&quot;$&quot;#,##0.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9A6B14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27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5E9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1E2761"/>
                    </a:solidFill>
                    <a:latin typeface="Arial"/>
                  </a:rPr>
                  <a:t>Units (Qty)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9A6B14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9A6B14"/>
                    </a:solidFill>
                    <a:latin typeface="Arial"/>
                  </a:rPr>
                  <a:t>Revenue ($M)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2327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combined chart showing both metrics together: units (Qty) as navy columns on the left axis and revenue ($M) as the gold line on the right axis, FY2019 through FY2026 (AOP). Native editable PowerPoint chart. KPI callouts summarize total units (29,601), total revenue (~$633M, sum of yearly figures), and volume growth (184x from 2019 to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Volume &amp; Revenue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and Revenue by Calendar Year  •  FY2019 – FY2026 (AOP)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508760"/>
          <a:ext cx="854964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9189720" y="16002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5400000">
              <a:srgbClr val="9AA5B8">
                <a:alpha val="3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445752" y="1746504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$162.8M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9464040" y="23500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revenue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464040" y="264261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high-water mark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189720" y="33375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5400000">
              <a:srgbClr val="9AA5B8">
                <a:alpha val="3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445752" y="3483864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8,384</a:t>
            </a:r>
            <a:endParaRPr lang="en-US" sz="3100" dirty="0"/>
          </a:p>
        </p:txBody>
      </p:sp>
      <p:sp>
        <p:nvSpPr>
          <p:cNvPr id="11" name="Text 8"/>
          <p:cNvSpPr/>
          <p:nvPr/>
        </p:nvSpPr>
        <p:spPr>
          <a:xfrm>
            <a:off x="9464040" y="408736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units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464040" y="437997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high-water mark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189720" y="507492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5400000">
              <a:srgbClr val="9AA5B8">
                <a:alpha val="3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445752" y="5221224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+48%</a:t>
            </a:r>
            <a:endParaRPr lang="en-US" sz="3100" dirty="0"/>
          </a:p>
        </p:txBody>
      </p:sp>
      <p:sp>
        <p:nvSpPr>
          <p:cNvPr id="15" name="Text 12"/>
          <p:cNvSpPr/>
          <p:nvPr/>
        </p:nvSpPr>
        <p:spPr>
          <a:xfrm>
            <a:off x="9464040" y="58247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CAGR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464040" y="61173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FY2020 → FY2026 (AOP)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Sales Volumes (Units) and Revenue, Sheet1.  CAGR measured from FY2020 (first full year).  AOP = Annual Operating Plan.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2026-07-21T07:40:46Z</dcterms:created>
  <dcterms:modified xsi:type="dcterms:W3CDTF">2026-07-21T07:40:46Z</dcterms:modified>
</cp:coreProperties>
</file>